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64" r:id="rId2"/>
    <p:sldId id="258" r:id="rId3"/>
    <p:sldId id="259" r:id="rId4"/>
    <p:sldId id="260" r:id="rId5"/>
    <p:sldId id="261" r:id="rId6"/>
    <p:sldId id="262" r:id="rId7"/>
    <p:sldId id="263"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5" d="100"/>
          <a:sy n="65" d="100"/>
        </p:scale>
        <p:origin x="726"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410885602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4228646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2333944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C848A51-1FBF-4D73-BDDF-9F62880996F6}"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1079699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C848A51-1FBF-4D73-BDDF-9F62880996F6}" type="datetimeFigureOut">
              <a:rPr lang="en-IN" smtClean="0"/>
              <a:t>18-02-2026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862214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C848A51-1FBF-4D73-BDDF-9F62880996F6}" type="datetimeFigureOut">
              <a:rPr lang="en-IN" smtClean="0"/>
              <a:t>18-02-2026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2436915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C848A51-1FBF-4D73-BDDF-9F62880996F6}" type="datetimeFigureOut">
              <a:rPr lang="en-IN" smtClean="0"/>
              <a:t>18-02-2026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1702917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C848A51-1FBF-4D73-BDDF-9F62880996F6}"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2986322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C848A51-1FBF-4D73-BDDF-9F62880996F6}"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322565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C848A51-1FBF-4D73-BDDF-9F62880996F6}"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294722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314080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3951269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1061948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3185039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1664182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025220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848A51-1FBF-4D73-BDDF-9F62880996F6}"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6FA333-E586-4617-8FD2-8C96D2A9D7AB}" type="slidenum">
              <a:rPr lang="en-IN" smtClean="0"/>
              <a:t>‹#›</a:t>
            </a:fld>
            <a:endParaRPr lang="en-IN"/>
          </a:p>
        </p:txBody>
      </p:sp>
    </p:spTree>
    <p:extLst>
      <p:ext uri="{BB962C8B-B14F-4D97-AF65-F5344CB8AC3E}">
        <p14:creationId xmlns:p14="http://schemas.microsoft.com/office/powerpoint/2010/main" val="433556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C848A51-1FBF-4D73-BDDF-9F62880996F6}" type="datetimeFigureOut">
              <a:rPr lang="en-IN" smtClean="0"/>
              <a:t>18-02-2026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96FA333-E586-4617-8FD2-8C96D2A9D7AB}" type="slidenum">
              <a:rPr lang="en-IN" smtClean="0"/>
              <a:t>‹#›</a:t>
            </a:fld>
            <a:endParaRPr lang="en-IN"/>
          </a:p>
        </p:txBody>
      </p:sp>
    </p:spTree>
    <p:extLst>
      <p:ext uri="{BB962C8B-B14F-4D97-AF65-F5344CB8AC3E}">
        <p14:creationId xmlns:p14="http://schemas.microsoft.com/office/powerpoint/2010/main" val="179834537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561" y="495667"/>
            <a:ext cx="11194025" cy="5866666"/>
          </a:xfrm>
          <a:prstGeom prst="rect">
            <a:avLst/>
          </a:prstGeom>
        </p:spPr>
      </p:pic>
    </p:spTree>
    <p:extLst>
      <p:ext uri="{BB962C8B-B14F-4D97-AF65-F5344CB8AC3E}">
        <p14:creationId xmlns:p14="http://schemas.microsoft.com/office/powerpoint/2010/main" val="34592239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11329" y="25360"/>
            <a:ext cx="6096000" cy="1200329"/>
          </a:xfrm>
          <a:prstGeom prst="rect">
            <a:avLst/>
          </a:prstGeom>
        </p:spPr>
        <p:txBody>
          <a:bodyPr>
            <a:spAutoFit/>
          </a:bodyPr>
          <a:lstStyle/>
          <a:p>
            <a:r>
              <a:rPr lang="en-IN" sz="2400" b="1" i="0" dirty="0" smtClean="0">
                <a:effectLst/>
                <a:latin typeface="Times New Roman" panose="02020603050405020304" pitchFamily="18" charset="0"/>
                <a:cs typeface="Times New Roman" panose="02020603050405020304" pitchFamily="18" charset="0"/>
              </a:rPr>
              <a:t>Home Tab</a:t>
            </a:r>
          </a:p>
          <a:p>
            <a:r>
              <a:rPr lang="en-IN" sz="2400" b="1" dirty="0" smtClean="0">
                <a:latin typeface="Times New Roman" panose="02020603050405020304" pitchFamily="18" charset="0"/>
                <a:cs typeface="Times New Roman" panose="02020603050405020304" pitchFamily="18" charset="0"/>
              </a:rPr>
              <a:t/>
            </a:r>
            <a:br>
              <a:rPr lang="en-IN" sz="2400" b="1" dirty="0" smtClean="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637072" y="507538"/>
            <a:ext cx="10906431" cy="6247864"/>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1. Clipboard</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Cut, copy, and paste visuals to another location within the report.</a:t>
            </a:r>
          </a:p>
          <a:p>
            <a:r>
              <a:rPr lang="en-US" sz="2000" b="1" dirty="0" smtClean="0">
                <a:latin typeface="Times New Roman" panose="02020603050405020304" pitchFamily="18" charset="0"/>
                <a:cs typeface="Times New Roman" panose="02020603050405020304" pitchFamily="18" charset="0"/>
              </a:rPr>
              <a:t>2. Data</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Import data from multiple sources.</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Instantly import using </a:t>
            </a:r>
            <a:r>
              <a:rPr lang="en-US" sz="2000" b="1" dirty="0" smtClean="0">
                <a:latin typeface="Times New Roman" panose="02020603050405020304" pitchFamily="18" charset="0"/>
                <a:cs typeface="Times New Roman" panose="02020603050405020304" pitchFamily="18" charset="0"/>
              </a:rPr>
              <a:t>Excel Workbook</a:t>
            </a:r>
            <a:r>
              <a:rPr lang="en-US" sz="2000" dirty="0" smtClean="0">
                <a:latin typeface="Times New Roman" panose="02020603050405020304" pitchFamily="18" charset="0"/>
                <a:cs typeface="Times New Roman" panose="02020603050405020304" pitchFamily="18" charset="0"/>
              </a:rPr>
              <a:t> option.</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Connect live to semantic models, data marts, Warehouses, and Lakehouse.</a:t>
            </a:r>
          </a:p>
          <a:p>
            <a:r>
              <a:rPr lang="en-US" sz="2000" b="1" dirty="0" smtClean="0">
                <a:latin typeface="Times New Roman" panose="02020603050405020304" pitchFamily="18" charset="0"/>
                <a:cs typeface="Times New Roman" panose="02020603050405020304" pitchFamily="18" charset="0"/>
              </a:rPr>
              <a:t>3. Queries</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Uses </a:t>
            </a:r>
            <a:r>
              <a:rPr lang="en-US" sz="2000" b="1" dirty="0" smtClean="0">
                <a:latin typeface="Times New Roman" panose="02020603050405020304" pitchFamily="18" charset="0"/>
                <a:cs typeface="Times New Roman" panose="02020603050405020304" pitchFamily="18" charset="0"/>
              </a:rPr>
              <a:t>Power Query Editor</a:t>
            </a:r>
            <a:r>
              <a:rPr lang="en-US" sz="2000" dirty="0" smtClean="0">
                <a:latin typeface="Times New Roman" panose="02020603050405020304" pitchFamily="18" charset="0"/>
                <a:cs typeface="Times New Roman" panose="02020603050405020304" pitchFamily="18" charset="0"/>
              </a:rPr>
              <a:t> as the backend.</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Transform data using </a:t>
            </a:r>
            <a:r>
              <a:rPr lang="en-US" sz="2000" b="1" dirty="0" smtClean="0">
                <a:latin typeface="Times New Roman" panose="02020603050405020304" pitchFamily="18" charset="0"/>
                <a:cs typeface="Times New Roman" panose="02020603050405020304" pitchFamily="18" charset="0"/>
              </a:rPr>
              <a:t>Transform Data</a:t>
            </a:r>
            <a:r>
              <a:rPr lang="en-US" sz="2000" dirty="0" smtClean="0">
                <a:latin typeface="Times New Roman" panose="02020603050405020304" pitchFamily="18" charset="0"/>
                <a:cs typeface="Times New Roman" panose="02020603050405020304" pitchFamily="18" charset="0"/>
              </a:rPr>
              <a:t> option.</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Clean, rectify anomalies, and connect multiple data sources.</a:t>
            </a:r>
          </a:p>
          <a:p>
            <a:r>
              <a:rPr lang="en-US" sz="2000" b="1" dirty="0" smtClean="0">
                <a:latin typeface="Times New Roman" panose="02020603050405020304" pitchFamily="18" charset="0"/>
                <a:cs typeface="Times New Roman" panose="02020603050405020304" pitchFamily="18" charset="0"/>
              </a:rPr>
              <a:t>4. Insert</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Add new visuals and text boxes.</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Import custom visuals from </a:t>
            </a:r>
            <a:r>
              <a:rPr lang="en-US" sz="2000" dirty="0" err="1" smtClean="0">
                <a:latin typeface="Times New Roman" panose="02020603050405020304" pitchFamily="18" charset="0"/>
                <a:cs typeface="Times New Roman" panose="02020603050405020304" pitchFamily="18" charset="0"/>
              </a:rPr>
              <a:t>AppSource</a:t>
            </a:r>
            <a:r>
              <a:rPr lang="en-US" sz="2000" dirty="0" smtClean="0">
                <a:latin typeface="Times New Roman" panose="02020603050405020304" pitchFamily="18" charset="0"/>
                <a:cs typeface="Times New Roman" panose="02020603050405020304" pitchFamily="18" charset="0"/>
              </a:rPr>
              <a:t> or local system.</a:t>
            </a:r>
          </a:p>
          <a:p>
            <a:r>
              <a:rPr lang="en-US" sz="2000" b="1" dirty="0" smtClean="0">
                <a:latin typeface="Times New Roman" panose="02020603050405020304" pitchFamily="18" charset="0"/>
                <a:cs typeface="Times New Roman" panose="02020603050405020304" pitchFamily="18" charset="0"/>
              </a:rPr>
              <a:t>5. Calculations</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Create </a:t>
            </a:r>
            <a:r>
              <a:rPr lang="en-US" sz="2000" b="1" dirty="0" smtClean="0">
                <a:latin typeface="Times New Roman" panose="02020603050405020304" pitchFamily="18" charset="0"/>
                <a:cs typeface="Times New Roman" panose="02020603050405020304" pitchFamily="18" charset="0"/>
              </a:rPr>
              <a:t>New Measures</a:t>
            </a:r>
            <a:r>
              <a:rPr lang="en-US" sz="2000" dirty="0" smtClean="0">
                <a:latin typeface="Times New Roman" panose="02020603050405020304" pitchFamily="18" charset="0"/>
                <a:cs typeface="Times New Roman" panose="02020603050405020304" pitchFamily="18" charset="0"/>
              </a:rPr>
              <a:t> using DAX expressions.</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Use </a:t>
            </a:r>
            <a:r>
              <a:rPr lang="en-US" sz="2000" b="1" dirty="0" smtClean="0">
                <a:latin typeface="Times New Roman" panose="02020603050405020304" pitchFamily="18" charset="0"/>
                <a:cs typeface="Times New Roman" panose="02020603050405020304" pitchFamily="18" charset="0"/>
              </a:rPr>
              <a:t>Quick Measure</a:t>
            </a:r>
            <a:r>
              <a:rPr lang="en-US" sz="2000" dirty="0" smtClean="0">
                <a:latin typeface="Times New Roman" panose="02020603050405020304" pitchFamily="18" charset="0"/>
                <a:cs typeface="Times New Roman" panose="02020603050405020304" pitchFamily="18" charset="0"/>
              </a:rPr>
              <a:t> for complex calculations.</a:t>
            </a:r>
          </a:p>
          <a:p>
            <a:r>
              <a:rPr lang="en-US" sz="2000" b="1" dirty="0" smtClean="0">
                <a:latin typeface="Times New Roman" panose="02020603050405020304" pitchFamily="18" charset="0"/>
                <a:cs typeface="Times New Roman" panose="02020603050405020304" pitchFamily="18" charset="0"/>
              </a:rPr>
              <a:t>6. Sensitivity</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Apply sensitivity labels to protect and classify report data.</a:t>
            </a:r>
          </a:p>
          <a:p>
            <a:r>
              <a:rPr lang="en-US" sz="2000" b="1" dirty="0" smtClean="0">
                <a:latin typeface="Times New Roman" panose="02020603050405020304" pitchFamily="18" charset="0"/>
                <a:cs typeface="Times New Roman" panose="02020603050405020304" pitchFamily="18" charset="0"/>
              </a:rPr>
              <a:t>7. Share</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Publish and broadcast reports to Power BI Service for collaboration.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5239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9601" y="246257"/>
            <a:ext cx="6096000" cy="1384995"/>
          </a:xfrm>
          <a:prstGeom prst="rect">
            <a:avLst/>
          </a:prstGeom>
        </p:spPr>
        <p:txBody>
          <a:bodyPr>
            <a:spAutoFit/>
          </a:bodyPr>
          <a:lstStyle/>
          <a:p>
            <a:r>
              <a:rPr lang="en-IN" sz="2800" b="1" i="0" dirty="0" smtClean="0">
                <a:effectLst/>
                <a:latin typeface="Times New Roman" panose="02020603050405020304" pitchFamily="18" charset="0"/>
                <a:cs typeface="Times New Roman" panose="02020603050405020304" pitchFamily="18" charset="0"/>
              </a:rPr>
              <a:t>Insert Tab</a:t>
            </a:r>
          </a:p>
          <a:p>
            <a:r>
              <a:rPr lang="en-IN" sz="2800" b="1" dirty="0" smtClean="0">
                <a:latin typeface="Times New Roman" panose="02020603050405020304" pitchFamily="18" charset="0"/>
                <a:cs typeface="Times New Roman" panose="02020603050405020304" pitchFamily="18" charset="0"/>
              </a:rPr>
              <a:t/>
            </a:r>
            <a:br>
              <a:rPr lang="en-IN" sz="2800" b="1" dirty="0" smtClean="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401095" y="804574"/>
            <a:ext cx="9026013" cy="5632311"/>
          </a:xfrm>
          <a:prstGeom prst="rect">
            <a:avLst/>
          </a:prstGeom>
        </p:spPr>
        <p:txBody>
          <a:bodyPr wrap="square">
            <a:spAutoFit/>
          </a:bodyPr>
          <a:lstStyle/>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Pages</a:t>
            </a:r>
            <a:r>
              <a:rPr lang="en-US" sz="2400" b="0" i="0" dirty="0" smtClean="0">
                <a:effectLst/>
                <a:latin typeface="Times New Roman" panose="02020603050405020304" pitchFamily="18" charset="0"/>
                <a:cs typeface="Times New Roman" panose="02020603050405020304" pitchFamily="18" charset="0"/>
              </a:rPr>
              <a:t> − You can add new pages either blank or duplicate pages into the report by using the Pages group.</a:t>
            </a:r>
          </a:p>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Visuals</a:t>
            </a:r>
            <a:r>
              <a:rPr lang="en-US" sz="2400" b="0" i="0" dirty="0" smtClean="0">
                <a:effectLst/>
                <a:latin typeface="Times New Roman" panose="02020603050405020304" pitchFamily="18" charset="0"/>
                <a:cs typeface="Times New Roman" panose="02020603050405020304" pitchFamily="18" charset="0"/>
              </a:rPr>
              <a:t> − You may utilize the Visuals group to add new visuals or more visuals from </a:t>
            </a:r>
            <a:r>
              <a:rPr lang="en-US" sz="2400" b="0" i="0" dirty="0" err="1" smtClean="0">
                <a:effectLst/>
                <a:latin typeface="Times New Roman" panose="02020603050405020304" pitchFamily="18" charset="0"/>
                <a:cs typeface="Times New Roman" panose="02020603050405020304" pitchFamily="18" charset="0"/>
              </a:rPr>
              <a:t>appsource</a:t>
            </a:r>
            <a:r>
              <a:rPr lang="en-US" sz="2400" b="0" i="0" dirty="0" smtClean="0">
                <a:effectLst/>
                <a:latin typeface="Times New Roman" panose="02020603050405020304" pitchFamily="18" charset="0"/>
                <a:cs typeface="Times New Roman" panose="02020603050405020304" pitchFamily="18" charset="0"/>
              </a:rPr>
              <a:t> or my files to the report to make interactive reports.</a:t>
            </a:r>
          </a:p>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AI visuals</a:t>
            </a:r>
            <a:r>
              <a:rPr lang="en-US" sz="2400" b="0" i="0" dirty="0" smtClean="0">
                <a:effectLst/>
                <a:latin typeface="Times New Roman" panose="02020603050405020304" pitchFamily="18" charset="0"/>
                <a:cs typeface="Times New Roman" panose="02020603050405020304" pitchFamily="18" charset="0"/>
              </a:rPr>
              <a:t> − Natural languages are used by AI visual groups, and metric influencers are added to the report by choosing key influences, a decomposition tree indicates how data is represented hierarchically, and narrative generates intelligent summaries of data automatically.</a:t>
            </a:r>
          </a:p>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Power Platform</a:t>
            </a:r>
            <a:r>
              <a:rPr lang="en-US" sz="2400" b="0" i="0" dirty="0" smtClean="0">
                <a:effectLst/>
                <a:latin typeface="Times New Roman" panose="02020603050405020304" pitchFamily="18" charset="0"/>
                <a:cs typeface="Times New Roman" panose="02020603050405020304" pitchFamily="18" charset="0"/>
              </a:rPr>
              <a:t> − This group is used to integrate paginated reports, Power Automate to automate complex tasks and Power apps.</a:t>
            </a:r>
          </a:p>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Elements</a:t>
            </a:r>
            <a:r>
              <a:rPr lang="en-US" sz="2400" b="0" i="0" dirty="0" smtClean="0">
                <a:effectLst/>
                <a:latin typeface="Times New Roman" panose="02020603050405020304" pitchFamily="18" charset="0"/>
                <a:cs typeface="Times New Roman" panose="02020603050405020304" pitchFamily="18" charset="0"/>
              </a:rPr>
              <a:t> − You can add distinct elements like Text boxes, Buttons, Shapes, and Images to the report.</a:t>
            </a:r>
          </a:p>
          <a:p>
            <a:pPr algn="just">
              <a:buFont typeface="Arial" panose="020B0604020202020204" pitchFamily="34" charset="0"/>
              <a:buChar char="•"/>
            </a:pPr>
            <a:r>
              <a:rPr lang="en-US" sz="2400" b="1" i="0" dirty="0" err="1" smtClean="0">
                <a:effectLst/>
                <a:latin typeface="Times New Roman" panose="02020603050405020304" pitchFamily="18" charset="0"/>
                <a:cs typeface="Times New Roman" panose="02020603050405020304" pitchFamily="18" charset="0"/>
              </a:rPr>
              <a:t>Sparklines</a:t>
            </a:r>
            <a:r>
              <a:rPr lang="en-US" sz="2400" b="0" i="0" dirty="0" smtClean="0">
                <a:effectLst/>
                <a:latin typeface="Times New Roman" panose="02020603050405020304" pitchFamily="18" charset="0"/>
                <a:cs typeface="Times New Roman" panose="02020603050405020304" pitchFamily="18" charset="0"/>
              </a:rPr>
              <a:t> − You can embed a </a:t>
            </a:r>
            <a:r>
              <a:rPr lang="en-US" sz="2400" b="0" i="0" dirty="0" err="1" smtClean="0">
                <a:effectLst/>
                <a:latin typeface="Times New Roman" panose="02020603050405020304" pitchFamily="18" charset="0"/>
                <a:cs typeface="Times New Roman" panose="02020603050405020304" pitchFamily="18" charset="0"/>
              </a:rPr>
              <a:t>sparkline</a:t>
            </a:r>
            <a:r>
              <a:rPr lang="en-US" sz="2400" b="0" i="0" dirty="0" smtClean="0">
                <a:effectLst/>
                <a:latin typeface="Times New Roman" panose="02020603050405020304" pitchFamily="18" charset="0"/>
                <a:cs typeface="Times New Roman" panose="02020603050405020304" pitchFamily="18" charset="0"/>
              </a:rPr>
              <a:t> (small chart) in either a matrix or table visuals.</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6424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90103" y="364245"/>
            <a:ext cx="6096000" cy="1384995"/>
          </a:xfrm>
          <a:prstGeom prst="rect">
            <a:avLst/>
          </a:prstGeom>
        </p:spPr>
        <p:txBody>
          <a:bodyPr>
            <a:spAutoFit/>
          </a:bodyPr>
          <a:lstStyle/>
          <a:p>
            <a:r>
              <a:rPr lang="en-IN" sz="2800" b="1" i="0" dirty="0" smtClean="0">
                <a:effectLst/>
                <a:latin typeface="Times New Roman" panose="02020603050405020304" pitchFamily="18" charset="0"/>
                <a:cs typeface="Times New Roman" panose="02020603050405020304" pitchFamily="18" charset="0"/>
              </a:rPr>
              <a:t>Modelling Tab</a:t>
            </a:r>
          </a:p>
          <a:p>
            <a:r>
              <a:rPr lang="en-IN" sz="2800" b="1" dirty="0" smtClean="0">
                <a:latin typeface="Times New Roman" panose="02020603050405020304" pitchFamily="18" charset="0"/>
                <a:cs typeface="Times New Roman" panose="02020603050405020304" pitchFamily="18" charset="0"/>
              </a:rPr>
              <a:t/>
            </a:r>
            <a:br>
              <a:rPr lang="en-IN" sz="2800" b="1" dirty="0" smtClean="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305232" y="1304408"/>
            <a:ext cx="8760542" cy="4693593"/>
          </a:xfrm>
          <a:prstGeom prst="rect">
            <a:avLst/>
          </a:prstGeom>
        </p:spPr>
        <p:txBody>
          <a:bodyPr wrap="square">
            <a:spAutoFit/>
          </a:bodyPr>
          <a:lstStyle/>
          <a:p>
            <a:pPr algn="just">
              <a:buFont typeface="Arial" panose="020B0604020202020204" pitchFamily="34" charset="0"/>
              <a:buChar char="•"/>
            </a:pPr>
            <a:r>
              <a:rPr lang="en-US" sz="2300" b="1" i="0" dirty="0" smtClean="0">
                <a:effectLst/>
                <a:latin typeface="Times New Roman" panose="02020603050405020304" pitchFamily="18" charset="0"/>
                <a:cs typeface="Times New Roman" panose="02020603050405020304" pitchFamily="18" charset="0"/>
              </a:rPr>
              <a:t>Relationships</a:t>
            </a:r>
            <a:r>
              <a:rPr lang="en-US" sz="2300" b="0" i="0" dirty="0" smtClean="0">
                <a:effectLst/>
                <a:latin typeface="Times New Roman" panose="02020603050405020304" pitchFamily="18" charset="0"/>
                <a:cs typeface="Times New Roman" panose="02020603050405020304" pitchFamily="18" charset="0"/>
              </a:rPr>
              <a:t> − You may choose the "Manage relationships" option if you wish to append, alter, or delete relationships among tables.</a:t>
            </a:r>
          </a:p>
          <a:p>
            <a:pPr algn="just">
              <a:buFont typeface="Arial" panose="020B0604020202020204" pitchFamily="34" charset="0"/>
              <a:buChar char="•"/>
            </a:pPr>
            <a:r>
              <a:rPr lang="en-US" sz="2300" b="1" i="0" dirty="0" smtClean="0">
                <a:effectLst/>
                <a:latin typeface="Times New Roman" panose="02020603050405020304" pitchFamily="18" charset="0"/>
                <a:cs typeface="Times New Roman" panose="02020603050405020304" pitchFamily="18" charset="0"/>
              </a:rPr>
              <a:t>Calculations</a:t>
            </a:r>
            <a:r>
              <a:rPr lang="en-US" sz="2300" b="0" i="0" dirty="0" smtClean="0">
                <a:effectLst/>
                <a:latin typeface="Times New Roman" panose="02020603050405020304" pitchFamily="18" charset="0"/>
                <a:cs typeface="Times New Roman" panose="02020603050405020304" pitchFamily="18" charset="0"/>
              </a:rPr>
              <a:t> − You can employ DAX expressions to generate new tables and new columns, and new measures can be developed through this calculation group.</a:t>
            </a:r>
          </a:p>
          <a:p>
            <a:pPr algn="just">
              <a:buFont typeface="Arial" panose="020B0604020202020204" pitchFamily="34" charset="0"/>
              <a:buChar char="•"/>
            </a:pPr>
            <a:r>
              <a:rPr lang="en-US" sz="2300" b="1" i="0" dirty="0" smtClean="0">
                <a:effectLst/>
                <a:latin typeface="Times New Roman" panose="02020603050405020304" pitchFamily="18" charset="0"/>
                <a:cs typeface="Times New Roman" panose="02020603050405020304" pitchFamily="18" charset="0"/>
              </a:rPr>
              <a:t>Page Refresh</a:t>
            </a:r>
            <a:r>
              <a:rPr lang="en-US" sz="2300" b="0" i="0" dirty="0" smtClean="0">
                <a:effectLst/>
                <a:latin typeface="Times New Roman" panose="02020603050405020304" pitchFamily="18" charset="0"/>
                <a:cs typeface="Times New Roman" panose="02020603050405020304" pitchFamily="18" charset="0"/>
              </a:rPr>
              <a:t> − It permits you to refresh pages relying on identifying changes in the dataset to enhance the performance of the report.</a:t>
            </a:r>
          </a:p>
          <a:p>
            <a:pPr algn="just">
              <a:buFont typeface="Arial" panose="020B0604020202020204" pitchFamily="34" charset="0"/>
              <a:buChar char="•"/>
            </a:pPr>
            <a:r>
              <a:rPr lang="en-US" sz="2300" b="1" i="0" dirty="0" smtClean="0">
                <a:effectLst/>
                <a:latin typeface="Times New Roman" panose="02020603050405020304" pitchFamily="18" charset="0"/>
                <a:cs typeface="Times New Roman" panose="02020603050405020304" pitchFamily="18" charset="0"/>
              </a:rPr>
              <a:t>Parameters</a:t>
            </a:r>
            <a:r>
              <a:rPr lang="en-US" sz="2300" b="0" i="0" dirty="0" smtClean="0">
                <a:effectLst/>
                <a:latin typeface="Times New Roman" panose="02020603050405020304" pitchFamily="18" charset="0"/>
                <a:cs typeface="Times New Roman" panose="02020603050405020304" pitchFamily="18" charset="0"/>
              </a:rPr>
              <a:t> − We may add parameters to the visuals and also use slicers to adjust the inputs and predict the output.</a:t>
            </a:r>
          </a:p>
          <a:p>
            <a:pPr algn="just">
              <a:buFont typeface="Arial" panose="020B0604020202020204" pitchFamily="34" charset="0"/>
              <a:buChar char="•"/>
            </a:pPr>
            <a:r>
              <a:rPr lang="en-US" sz="2300" b="1" i="0" dirty="0" smtClean="0">
                <a:effectLst/>
                <a:latin typeface="Times New Roman" panose="02020603050405020304" pitchFamily="18" charset="0"/>
                <a:cs typeface="Times New Roman" panose="02020603050405020304" pitchFamily="18" charset="0"/>
              </a:rPr>
              <a:t>Security</a:t>
            </a:r>
            <a:r>
              <a:rPr lang="en-US" sz="2300" b="0" i="0" dirty="0" smtClean="0">
                <a:effectLst/>
                <a:latin typeface="Times New Roman" panose="02020603050405020304" pitchFamily="18" charset="0"/>
                <a:cs typeface="Times New Roman" panose="02020603050405020304" pitchFamily="18" charset="0"/>
              </a:rPr>
              <a:t> − Managers and higher-level authority use the "Security" option to ensure the row level of security.</a:t>
            </a:r>
          </a:p>
          <a:p>
            <a:pPr algn="just">
              <a:buFont typeface="Arial" panose="020B0604020202020204" pitchFamily="34" charset="0"/>
              <a:buChar char="•"/>
            </a:pPr>
            <a:r>
              <a:rPr lang="en-US" sz="2300" b="1" i="0" dirty="0" smtClean="0">
                <a:effectLst/>
                <a:latin typeface="Times New Roman" panose="02020603050405020304" pitchFamily="18" charset="0"/>
                <a:cs typeface="Times New Roman" panose="02020603050405020304" pitchFamily="18" charset="0"/>
              </a:rPr>
              <a:t>Q&amp;A</a:t>
            </a:r>
            <a:r>
              <a:rPr lang="en-US" sz="2300" b="0" i="0" dirty="0" smtClean="0">
                <a:effectLst/>
                <a:latin typeface="Times New Roman" panose="02020603050405020304" pitchFamily="18" charset="0"/>
                <a:cs typeface="Times New Roman" panose="02020603050405020304" pitchFamily="18" charset="0"/>
              </a:rPr>
              <a:t> − You may use this group to understand the dataset and alter the language utilized to ask questions to know more about terms and data.</a:t>
            </a:r>
            <a:endParaRPr lang="en-US" sz="23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18325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56471" y="563346"/>
            <a:ext cx="6096000" cy="1384995"/>
          </a:xfrm>
          <a:prstGeom prst="rect">
            <a:avLst/>
          </a:prstGeom>
        </p:spPr>
        <p:txBody>
          <a:bodyPr>
            <a:spAutoFit/>
          </a:bodyPr>
          <a:lstStyle/>
          <a:p>
            <a:r>
              <a:rPr lang="en-IN" sz="2800" b="1" i="0" dirty="0" smtClean="0">
                <a:effectLst/>
                <a:latin typeface="Times New Roman" panose="02020603050405020304" pitchFamily="18" charset="0"/>
                <a:cs typeface="Times New Roman" panose="02020603050405020304" pitchFamily="18" charset="0"/>
              </a:rPr>
              <a:t>View Tab</a:t>
            </a:r>
          </a:p>
          <a:p>
            <a:r>
              <a:rPr lang="en-IN" sz="2800" b="1" dirty="0" smtClean="0">
                <a:latin typeface="Times New Roman" panose="02020603050405020304" pitchFamily="18" charset="0"/>
                <a:cs typeface="Times New Roman" panose="02020603050405020304" pitchFamily="18" charset="0"/>
              </a:rPr>
              <a:t/>
            </a:r>
            <a:br>
              <a:rPr lang="en-IN" sz="2800" b="1" dirty="0" smtClean="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592827" y="1379084"/>
            <a:ext cx="9202994" cy="4893647"/>
          </a:xfrm>
          <a:prstGeom prst="rect">
            <a:avLst/>
          </a:prstGeom>
        </p:spPr>
        <p:txBody>
          <a:bodyPr wrap="square">
            <a:spAutoFit/>
          </a:bodyPr>
          <a:lstStyle/>
          <a:p>
            <a:pPr algn="just">
              <a:buFont typeface="Arial" panose="020B0604020202020204" pitchFamily="34" charset="0"/>
              <a:buChar char="•"/>
            </a:pPr>
            <a:r>
              <a:rPr lang="en-US" sz="2600" b="1" i="0" dirty="0" smtClean="0">
                <a:effectLst/>
                <a:latin typeface="Times New Roman" panose="02020603050405020304" pitchFamily="18" charset="0"/>
                <a:cs typeface="Times New Roman" panose="02020603050405020304" pitchFamily="18" charset="0"/>
              </a:rPr>
              <a:t>Themes</a:t>
            </a:r>
            <a:r>
              <a:rPr lang="en-US" sz="2600" b="0" i="0" dirty="0" smtClean="0">
                <a:effectLst/>
                <a:latin typeface="Times New Roman" panose="02020603050405020304" pitchFamily="18" charset="0"/>
                <a:cs typeface="Times New Roman" panose="02020603050405020304" pitchFamily="18" charset="0"/>
              </a:rPr>
              <a:t> − You can create a theme, change the default theme of the report, and customize the present theme for stunning reports.</a:t>
            </a:r>
          </a:p>
          <a:p>
            <a:pPr algn="just">
              <a:buFont typeface="Arial" panose="020B0604020202020204" pitchFamily="34" charset="0"/>
              <a:buChar char="•"/>
            </a:pPr>
            <a:r>
              <a:rPr lang="en-US" sz="2600" b="1" i="0" dirty="0" smtClean="0">
                <a:effectLst/>
                <a:latin typeface="Times New Roman" panose="02020603050405020304" pitchFamily="18" charset="0"/>
                <a:cs typeface="Times New Roman" panose="02020603050405020304" pitchFamily="18" charset="0"/>
              </a:rPr>
              <a:t>Scale to fit</a:t>
            </a:r>
            <a:r>
              <a:rPr lang="en-US" sz="2600" b="0" i="0" dirty="0" smtClean="0">
                <a:effectLst/>
                <a:latin typeface="Times New Roman" panose="02020603050405020304" pitchFamily="18" charset="0"/>
                <a:cs typeface="Times New Roman" panose="02020603050405020304" pitchFamily="18" charset="0"/>
              </a:rPr>
              <a:t> − Depending on your needs, you can choose from alternatives like "fit to width," "fit to page," and "actual size" of the page.</a:t>
            </a:r>
          </a:p>
          <a:p>
            <a:pPr algn="just">
              <a:buFont typeface="Arial" panose="020B0604020202020204" pitchFamily="34" charset="0"/>
              <a:buChar char="•"/>
            </a:pPr>
            <a:r>
              <a:rPr lang="en-US" sz="2600" b="1" i="0" dirty="0" smtClean="0">
                <a:effectLst/>
                <a:latin typeface="Times New Roman" panose="02020603050405020304" pitchFamily="18" charset="0"/>
                <a:cs typeface="Times New Roman" panose="02020603050405020304" pitchFamily="18" charset="0"/>
              </a:rPr>
              <a:t>Mobile</a:t>
            </a:r>
            <a:r>
              <a:rPr lang="en-US" sz="2600" b="0" i="0" dirty="0" smtClean="0">
                <a:effectLst/>
                <a:latin typeface="Times New Roman" panose="02020603050405020304" pitchFamily="18" charset="0"/>
                <a:cs typeface="Times New Roman" panose="02020603050405020304" pitchFamily="18" charset="0"/>
              </a:rPr>
              <a:t> − You may also create a report for mobile phones.</a:t>
            </a:r>
          </a:p>
          <a:p>
            <a:pPr algn="just">
              <a:buFont typeface="Arial" panose="020B0604020202020204" pitchFamily="34" charset="0"/>
              <a:buChar char="•"/>
            </a:pPr>
            <a:r>
              <a:rPr lang="en-US" sz="2600" b="1" i="0" dirty="0" smtClean="0">
                <a:effectLst/>
                <a:latin typeface="Times New Roman" panose="02020603050405020304" pitchFamily="18" charset="0"/>
                <a:cs typeface="Times New Roman" panose="02020603050405020304" pitchFamily="18" charset="0"/>
              </a:rPr>
              <a:t>Page options</a:t>
            </a:r>
            <a:r>
              <a:rPr lang="en-US" sz="2600" b="0" i="0" dirty="0" smtClean="0">
                <a:effectLst/>
                <a:latin typeface="Times New Roman" panose="02020603050405020304" pitchFamily="18" charset="0"/>
                <a:cs typeface="Times New Roman" panose="02020603050405020304" pitchFamily="18" charset="0"/>
              </a:rPr>
              <a:t> − You can automatically or manually align the objects either by selecting the "Snap to grid" option or "Gridline" option and also lock objects while showcasing the presentation.</a:t>
            </a:r>
          </a:p>
          <a:p>
            <a:pPr algn="just">
              <a:buFont typeface="Arial" panose="020B0604020202020204" pitchFamily="34" charset="0"/>
              <a:buChar char="•"/>
            </a:pPr>
            <a:r>
              <a:rPr lang="en-US" sz="2600" b="1" i="0" dirty="0" smtClean="0">
                <a:effectLst/>
                <a:latin typeface="Times New Roman" panose="02020603050405020304" pitchFamily="18" charset="0"/>
                <a:cs typeface="Times New Roman" panose="02020603050405020304" pitchFamily="18" charset="0"/>
              </a:rPr>
              <a:t>Show Panes</a:t>
            </a:r>
            <a:r>
              <a:rPr lang="en-US" sz="2600" b="0" i="0" dirty="0" smtClean="0">
                <a:effectLst/>
                <a:latin typeface="Times New Roman" panose="02020603050405020304" pitchFamily="18" charset="0"/>
                <a:cs typeface="Times New Roman" panose="02020603050405020304" pitchFamily="18" charset="0"/>
              </a:rPr>
              <a:t> − The filter pane can either be visible or hidden by using the filter option. Bookmarks can be added or viewed to capture the data.</a:t>
            </a:r>
            <a:endParaRPr lang="en-US" sz="26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18216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4742" y="474345"/>
            <a:ext cx="6096000" cy="1384995"/>
          </a:xfrm>
          <a:prstGeom prst="rect">
            <a:avLst/>
          </a:prstGeom>
        </p:spPr>
        <p:txBody>
          <a:bodyPr>
            <a:spAutoFit/>
          </a:bodyPr>
          <a:lstStyle/>
          <a:p>
            <a:r>
              <a:rPr lang="en-IN" sz="2800" b="1" i="0" dirty="0" smtClean="0">
                <a:effectLst/>
                <a:latin typeface="Verdana" panose="020B0604030504040204" pitchFamily="34" charset="0"/>
              </a:rPr>
              <a:t>Optimize Tab</a:t>
            </a:r>
          </a:p>
          <a:p>
            <a:r>
              <a:rPr lang="en-IN" sz="2800" b="1" dirty="0" smtClean="0"/>
              <a:t/>
            </a:r>
            <a:br>
              <a:rPr lang="en-IN" sz="2800" b="1" dirty="0" smtClean="0"/>
            </a:br>
            <a:endParaRPr lang="en-IN" sz="2800" b="1" dirty="0"/>
          </a:p>
        </p:txBody>
      </p:sp>
      <p:sp>
        <p:nvSpPr>
          <p:cNvPr id="3" name="Rectangle 2"/>
          <p:cNvSpPr/>
          <p:nvPr/>
        </p:nvSpPr>
        <p:spPr>
          <a:xfrm>
            <a:off x="1747683" y="1608617"/>
            <a:ext cx="8775291" cy="4401205"/>
          </a:xfrm>
          <a:prstGeom prst="rect">
            <a:avLst/>
          </a:prstGeom>
        </p:spPr>
        <p:txBody>
          <a:bodyPr wrap="square">
            <a:spAutoFit/>
          </a:bodyPr>
          <a:lstStyle/>
          <a:p>
            <a:pPr algn="just">
              <a:buFont typeface="Arial" panose="020B0604020202020204" pitchFamily="34" charset="0"/>
              <a:buChar char="•"/>
            </a:pPr>
            <a:r>
              <a:rPr lang="en-US" sz="2800" b="1" i="0" dirty="0" smtClean="0">
                <a:effectLst/>
                <a:latin typeface="Times New Roman" panose="02020603050405020304" pitchFamily="18" charset="0"/>
                <a:cs typeface="Times New Roman" panose="02020603050405020304" pitchFamily="18" charset="0"/>
              </a:rPr>
              <a:t>Queries</a:t>
            </a:r>
            <a:r>
              <a:rPr lang="en-US" sz="2800" b="0" i="0" dirty="0" smtClean="0">
                <a:effectLst/>
                <a:latin typeface="Times New Roman" panose="02020603050405020304" pitchFamily="18" charset="0"/>
                <a:cs typeface="Times New Roman" panose="02020603050405020304" pitchFamily="18" charset="0"/>
              </a:rPr>
              <a:t> − This group permits you to stop or resume visuals during changes in the report.</a:t>
            </a:r>
          </a:p>
          <a:p>
            <a:pPr algn="just">
              <a:buFont typeface="Arial" panose="020B0604020202020204" pitchFamily="34" charset="0"/>
              <a:buChar char="•"/>
            </a:pPr>
            <a:r>
              <a:rPr lang="en-US" sz="2800" b="1" i="0" dirty="0" smtClean="0">
                <a:effectLst/>
                <a:latin typeface="Times New Roman" panose="02020603050405020304" pitchFamily="18" charset="0"/>
                <a:cs typeface="Times New Roman" panose="02020603050405020304" pitchFamily="18" charset="0"/>
              </a:rPr>
              <a:t>Report</a:t>
            </a:r>
            <a:r>
              <a:rPr lang="en-US" sz="2800" b="0" i="0" dirty="0" smtClean="0">
                <a:effectLst/>
                <a:latin typeface="Times New Roman" panose="02020603050405020304" pitchFamily="18" charset="0"/>
                <a:cs typeface="Times New Roman" panose="02020603050405020304" pitchFamily="18" charset="0"/>
              </a:rPr>
              <a:t> − You may optimize the report settings to enhance the performance of the report for better interaction and to minimize queries.</a:t>
            </a:r>
          </a:p>
          <a:p>
            <a:pPr algn="just">
              <a:buFont typeface="Arial" panose="020B0604020202020204" pitchFamily="34" charset="0"/>
              <a:buChar char="•"/>
            </a:pPr>
            <a:r>
              <a:rPr lang="en-US" sz="2800" b="1" i="0" dirty="0" smtClean="0">
                <a:effectLst/>
                <a:latin typeface="Times New Roman" panose="02020603050405020304" pitchFamily="18" charset="0"/>
                <a:cs typeface="Times New Roman" panose="02020603050405020304" pitchFamily="18" charset="0"/>
              </a:rPr>
              <a:t>Review</a:t>
            </a:r>
            <a:r>
              <a:rPr lang="en-US" sz="2800" b="0" i="0" dirty="0" smtClean="0">
                <a:effectLst/>
                <a:latin typeface="Times New Roman" panose="02020603050405020304" pitchFamily="18" charset="0"/>
                <a:cs typeface="Times New Roman" panose="02020603050405020304" pitchFamily="18" charset="0"/>
              </a:rPr>
              <a:t> − You inspect the report performance and enhance the areas that require further improvement.</a:t>
            </a:r>
          </a:p>
          <a:p>
            <a:pPr algn="just">
              <a:buFont typeface="Arial" panose="020B0604020202020204" pitchFamily="34" charset="0"/>
              <a:buChar char="•"/>
            </a:pPr>
            <a:r>
              <a:rPr lang="en-US" sz="2800" b="1" i="0" dirty="0" smtClean="0">
                <a:effectLst/>
                <a:latin typeface="Times New Roman" panose="02020603050405020304" pitchFamily="18" charset="0"/>
                <a:cs typeface="Times New Roman" panose="02020603050405020304" pitchFamily="18" charset="0"/>
              </a:rPr>
              <a:t>Apply</a:t>
            </a:r>
            <a:r>
              <a:rPr lang="en-US" sz="2800" b="0" i="0" dirty="0" smtClean="0">
                <a:effectLst/>
                <a:latin typeface="Times New Roman" panose="02020603050405020304" pitchFamily="18" charset="0"/>
                <a:cs typeface="Times New Roman" panose="02020603050405020304" pitchFamily="18" charset="0"/>
              </a:rPr>
              <a:t> − You may add an "Apply all slicers button" in the report if there are multiple slicers on a page and this control will apply to all slicers.</a:t>
            </a:r>
            <a:endParaRPr lang="en-US" sz="28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12937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1723" y="533851"/>
            <a:ext cx="6096000" cy="1569660"/>
          </a:xfrm>
          <a:prstGeom prst="rect">
            <a:avLst/>
          </a:prstGeom>
        </p:spPr>
        <p:txBody>
          <a:bodyPr>
            <a:spAutoFit/>
          </a:bodyPr>
          <a:lstStyle/>
          <a:p>
            <a:r>
              <a:rPr lang="en-IN" sz="3200" b="1" i="0" dirty="0" smtClean="0">
                <a:effectLst/>
                <a:latin typeface="Times New Roman" panose="02020603050405020304" pitchFamily="18" charset="0"/>
                <a:cs typeface="Times New Roman" panose="02020603050405020304" pitchFamily="18" charset="0"/>
              </a:rPr>
              <a:t>Help Tab</a:t>
            </a:r>
          </a:p>
          <a:p>
            <a:r>
              <a:rPr lang="en-IN" sz="3200" b="1" dirty="0" smtClean="0">
                <a:latin typeface="Times New Roman" panose="02020603050405020304" pitchFamily="18" charset="0"/>
                <a:cs typeface="Times New Roman" panose="02020603050405020304" pitchFamily="18" charset="0"/>
              </a:rPr>
              <a:t/>
            </a:r>
            <a:br>
              <a:rPr lang="en-IN" sz="3200" b="1" dirty="0" smtClean="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578077" y="1640401"/>
            <a:ext cx="9320981" cy="4893647"/>
          </a:xfrm>
          <a:prstGeom prst="rect">
            <a:avLst/>
          </a:prstGeom>
        </p:spPr>
        <p:txBody>
          <a:bodyPr wrap="square">
            <a:spAutoFit/>
          </a:bodyPr>
          <a:lstStyle/>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Info</a:t>
            </a:r>
            <a:r>
              <a:rPr lang="en-US" sz="2400" b="0" i="0" dirty="0" smtClean="0">
                <a:effectLst/>
                <a:latin typeface="Times New Roman" panose="02020603050405020304" pitchFamily="18" charset="0"/>
                <a:cs typeface="Times New Roman" panose="02020603050405020304" pitchFamily="18" charset="0"/>
              </a:rPr>
              <a:t> − This group assists users in knowing the version of downloaded Power BI tools and acquiring the session information while submitting a ticket.</a:t>
            </a:r>
          </a:p>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Help</a:t>
            </a:r>
            <a:r>
              <a:rPr lang="en-US" sz="2400" b="0" i="0" dirty="0" smtClean="0">
                <a:effectLst/>
                <a:latin typeface="Times New Roman" panose="02020603050405020304" pitchFamily="18" charset="0"/>
                <a:cs typeface="Times New Roman" panose="02020603050405020304" pitchFamily="18" charset="0"/>
              </a:rPr>
              <a:t> − You may take help from the training videos, support, and documentation to learn more about Power BI.</a:t>
            </a:r>
          </a:p>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Community</a:t>
            </a:r>
            <a:r>
              <a:rPr lang="en-US" sz="2400" b="0" i="0" dirty="0" smtClean="0">
                <a:effectLst/>
                <a:latin typeface="Times New Roman" panose="02020603050405020304" pitchFamily="18" charset="0"/>
                <a:cs typeface="Times New Roman" panose="02020603050405020304" pitchFamily="18" charset="0"/>
              </a:rPr>
              <a:t> − You may join the Power BI community to collaborate with other experts and read the blog, get to know the recent updates of the tools, and also download the external tools that are compatible with Power BI.</a:t>
            </a:r>
          </a:p>
          <a:p>
            <a:pPr algn="just">
              <a:buFont typeface="Arial" panose="020B0604020202020204" pitchFamily="34" charset="0"/>
              <a:buChar char="•"/>
            </a:pPr>
            <a:r>
              <a:rPr lang="en-US" sz="2400" b="1" i="0" dirty="0" smtClean="0">
                <a:effectLst/>
                <a:latin typeface="Times New Roman" panose="02020603050405020304" pitchFamily="18" charset="0"/>
                <a:cs typeface="Times New Roman" panose="02020603050405020304" pitchFamily="18" charset="0"/>
              </a:rPr>
              <a:t>Resources</a:t>
            </a:r>
            <a:r>
              <a:rPr lang="en-US" sz="2400" b="0" i="0" dirty="0" smtClean="0">
                <a:effectLst/>
                <a:latin typeface="Times New Roman" panose="02020603050405020304" pitchFamily="18" charset="0"/>
                <a:cs typeface="Times New Roman" panose="02020603050405020304" pitchFamily="18" charset="0"/>
              </a:rPr>
              <a:t> − You may explore examples and workshops provided by the consulting service to enhance your skills.</a:t>
            </a:r>
          </a:p>
          <a:p>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27434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868262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29</TotalTime>
  <Words>812</Words>
  <Application>Microsoft Office PowerPoint</Application>
  <PresentationFormat>Widescreen</PresentationFormat>
  <Paragraphs>58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Verdana</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BOBY</dc:creator>
  <cp:lastModifiedBy>BOBY</cp:lastModifiedBy>
  <cp:revision>5</cp:revision>
  <dcterms:created xsi:type="dcterms:W3CDTF">2026-02-18T02:24:32Z</dcterms:created>
  <dcterms:modified xsi:type="dcterms:W3CDTF">2026-02-18T02:57:05Z</dcterms:modified>
</cp:coreProperties>
</file>